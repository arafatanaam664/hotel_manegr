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1463040"/>
            <a:ext cx="82296" cy="3108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326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نظام أثير لإدارة الفنادق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 i="0">
                <a:solidFill>
                  <a:srgbClr val="C9A227"/>
                </a:solidFill>
                <a:latin typeface="Segoe UI"/>
                <a:cs typeface="Segoe UI"/>
              </a:rPr>
              <a:t>العرض التقني الشامل — المعمارية والمحرك المحاسبي والمزامنة والأمان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500" b="0" i="0">
                <a:solidFill>
                  <a:srgbClr val="D5DEE8"/>
                </a:solidFill>
                <a:latin typeface="Segoe UI"/>
                <a:cs typeface="Segoe UI"/>
              </a:rPr>
              <a:t>نظام ERP محاسبي إداري للفنادق — محلي + سحابي + هجين من نواة واحدة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500" b="0" i="0">
                <a:solidFill>
                  <a:srgbClr val="D5DEE8"/>
                </a:solidFill>
                <a:latin typeface="Segoe UI"/>
                <a:cs typeface="Segoe UI"/>
              </a:rPr>
              <a:t>موجَّه للمطورين والمحاسبين المراجعين والمستشارين التقنيين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500" b="0" i="0">
                <a:solidFill>
                  <a:srgbClr val="D5DEE8"/>
                </a:solidFill>
                <a:latin typeface="Segoe UI"/>
                <a:cs typeface="Segoe UI"/>
              </a:rPr>
              <a:t>مرجعه الملزم: حزمة وثائق المشروع (15 مواصفة + وثائق أعمال وتشغيل)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806440"/>
            <a:ext cx="3657600" cy="502920"/>
          </a:xfrm>
          <a:prstGeom prst="round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الإصدار 1.0 — أغسطس 2026 — سرّي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نواة واحدة… ثلاثة أوضاع نشر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نفس الكود — نفس القوة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63040"/>
            <a:ext cx="3566160" cy="22860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463040"/>
            <a:ext cx="356616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1581912"/>
            <a:ext cx="33467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محلي On-Premise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2029968"/>
            <a:ext cx="334670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خادم داخل الفندق يعمل 100% بدون إنترنت.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ترخيص ملف موقَّع بمهلة سماح.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النسخ بوسائط متناوبة.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22860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581912"/>
            <a:ext cx="33467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سحابي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29968"/>
            <a:ext cx="334670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Multi-Tenant مركزي بعزل RLS.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تحديثات ونسخ ومراقبة آلية.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اشتراك شهري ميسور الدخول.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463040"/>
            <a:ext cx="3566160" cy="22860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463040"/>
            <a:ext cx="356616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581912"/>
            <a:ext cx="33467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هجين 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029968"/>
            <a:ext cx="334670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الحصان الاستراتيجي: عمل محلي كامل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+ مزامنة للسحابة: تقارير المالك،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نسخ خارجي، تراخيص، دعم عن بُعد.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القاعدة الحاكمة: الكود لا يعرف وضع تشغيله إلا من الإعداد — كل الاختلافات خلف واجهات قابلة للتبديل.</a:t>
            </a:r>
          </a:p>
        </p:txBody>
      </p:sp>
      <p:sp>
        <p:nvSpPr>
          <p:cNvPr id="20" name="Chevron 19"/>
          <p:cNvSpPr/>
          <p:nvPr/>
        </p:nvSpPr>
        <p:spPr>
          <a:xfrm>
            <a:off x="9537558" y="4846320"/>
            <a:ext cx="2196937" cy="86868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واجهات RTL (React)</a:t>
            </a:r>
          </a:p>
        </p:txBody>
      </p:sp>
      <p:sp>
        <p:nvSpPr>
          <p:cNvPr id="21" name="Chevron 20"/>
          <p:cNvSpPr/>
          <p:nvPr/>
        </p:nvSpPr>
        <p:spPr>
          <a:xfrm>
            <a:off x="7267469" y="4846320"/>
            <a:ext cx="2196937" cy="86868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طبقة API موحدة</a:t>
            </a:r>
          </a:p>
        </p:txBody>
      </p:sp>
      <p:sp>
        <p:nvSpPr>
          <p:cNvPr id="22" name="Chevron 21"/>
          <p:cNvSpPr/>
          <p:nvPr/>
        </p:nvSpPr>
        <p:spPr>
          <a:xfrm>
            <a:off x="4997380" y="4846320"/>
            <a:ext cx="2196937" cy="86868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طبقة التطبيق والوحدات</a:t>
            </a:r>
          </a:p>
        </p:txBody>
      </p:sp>
      <p:sp>
        <p:nvSpPr>
          <p:cNvPr id="23" name="Chevron 22"/>
          <p:cNvSpPr/>
          <p:nvPr/>
        </p:nvSpPr>
        <p:spPr>
          <a:xfrm>
            <a:off x="2727291" y="4846320"/>
            <a:ext cx="2196937" cy="86868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نواة المحاسبة + خدمات عرضية</a:t>
            </a:r>
          </a:p>
        </p:txBody>
      </p:sp>
      <p:sp>
        <p:nvSpPr>
          <p:cNvPr id="24" name="Pentagon 23"/>
          <p:cNvSpPr/>
          <p:nvPr/>
        </p:nvSpPr>
        <p:spPr>
          <a:xfrm>
            <a:off x="457202" y="4846320"/>
            <a:ext cx="2196937" cy="868680"/>
          </a:xfrm>
          <a:prstGeom prst="homePlate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PostgreSQL + Outbox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المعمارية: قواعد لا تُكسر وقرارات موثقة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Architecture Rules &amp; ADRs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الاعتماد للداخل فقط: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API ← تطبيق ← نواة؛ والبنية التحتية خلف الواجهات (يفحصها اختبار معماري آلي).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نواة محاسبة مستقلة: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لا تستورد أي وحدة تشغيلية (غرف/POS) — قابلة للفصل منتجاً مستقلاً.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ممنوع تجاوز الطبقات: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Controller يلمس قاعدة البيانات مباشرة = رفض مراجعة تلقائي.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حدود وحدات صارمة: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كل وحدة مكتفية بحدودها وتتواصل بأحداث تشغيلية فقط.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عزل المستأجرين: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tenant_id في كل جدول + الفرع — ولا يدخل من العميل أبداً بل من الجلسة.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لا Soft-Delete للماليات: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قيود وأحداث مالية إلحاق فقط (Append-Only).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72000"/>
            <a:ext cx="11155680" cy="155448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1115568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690872"/>
            <a:ext cx="109362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قرارات مسجلة (ADR) تحكم المستقبل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138928"/>
            <a:ext cx="1093622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ADR-01 نواة واحدة للأوضاع • ADR-02 محاسبة بالأحداث • ADR-03 أرصدة مشتقة غير مخزنة • ADR-04 مفاتيح عالمية UUID • ADR-05 إلحاق-فقط للماليات • ADR-06 لوحة الشركة منفصلة بالكامل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المكدس التقني ومبررات الاختيار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Technology Stack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7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933"/>
                <a:gridCol w="4056610"/>
                <a:gridCol w="2231136"/>
              </a:tblGrid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لماذا هي تحديداً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التقنية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الطبقة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صرامة أنواع للثوابت المالية وأداء ونشر خدمة نظام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.NET 8 / ASP.NET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الخلفية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عربية RTL أصيلة وسريعة بنظام بيئي ضخم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React 18 + TS + Tailwind RTL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الواجهة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معاملات صارمة، RLS، تقسيم جداول، توحيد الدلالات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PostgreSQL 15+ محلياً وسحابياً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قاعدة البيانات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إصدارات مخطط منضبطة لا تُرجع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EF Core 8 + Migrations تقدمية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ORM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جلسات آمنة مع كشف إعادة الاستخدام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JWT بدوّار + TOTP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الهوية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ضمانات مالية لا توفرها الأدوات العامة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محرك مخصص Outbox/Inbox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المزامنة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صارم تقنياً ويعمل بلا اتصال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توقيع Ed25519 وتحقق محلي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الترخيص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نفس الصور للمحلي والسحابة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Docker Compose مرجعي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النشر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القاعدة الجوهرية لكل النظام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Accounting Invariant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911535" cy="1737360"/>
          </a:xfrm>
          <a:prstGeom prst="round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18001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  <a:cs typeface="Segoe UI"/>
              </a:rPr>
              <a:t>كل عملية مالية = قيد مزدوج متوازن</a:t>
            </a:r>
          </a:p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  <a:cs typeface="Segoe UI"/>
              </a:rPr>
              <a:t>مجموع المدين = مجموع الدائن دائماً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إلحاق فقط: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القيد المرحل لا يُعدَّل ولا يُحذف من أي مسار — حتى من إدارة قاعدة البيانات.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التصحيح بالعكس فقط: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قيد عكسي موثق بالسبب ويشير للأصل.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مصدر إلزامي: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لا قيد آلي بلا مستند مصدر (فاتورة/حجز/سند/مسير).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أرصدة مشتقة: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الحقيقة مجموع القيود، والكاش يعاد بناؤه ويطابَق آلياً كل ليلة.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نموذج القيد + قواعد التحقق الثمانية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Journal Model &amp; Validations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303520" cy="2377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530352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353312"/>
            <a:ext cx="5084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الرأس journal_entries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801368"/>
            <a:ext cx="5084064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نوع • رقم تسلسلي • تاريخ • فترة • عملة • حالة (مسودة/مرحل/معكوس) • مصدر إلزامي • مراجعون • طابع ترحيل • تجزئة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34440"/>
            <a:ext cx="5669280" cy="2377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34440"/>
            <a:ext cx="566928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353312"/>
            <a:ext cx="5449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الأسطر journal_entry_lines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01368"/>
            <a:ext cx="5449824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حساب ورقي فقط • مدين/دائن بالعملة الأساسية • لقطة عملة ثلاثية (أجنبي/سعر/أساسي) • طرف (نزيل/شركة/مورد) إلزامي للحسابات الموسومة • مركز تكلفة للمصروفات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1D4E79"/>
                </a:solidFill>
                <a:latin typeface="Segoe UI"/>
                <a:cs typeface="Segoe UI"/>
              </a:rPr>
              <a:t>قواعد التحقق (تطبيق + قاعدة بيانات معاً):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V1 توازن ذري: مدين = دائن بدقة كاملة وإلا رفض كلي</a:t>
            </a:r>
          </a:p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V2 لا مبالغ سالبة: التصحيح بتبديل الأطراف</a:t>
            </a:r>
          </a:p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V3 سطران على الأقل لكل قيد</a:t>
            </a:r>
          </a:p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V4 حسابات ورقية نشطة فقط (يمنع الترحيل على الأب)</a:t>
            </a:r>
          </a:p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V5 فترة مفتوحة لتاريخ القيد</a:t>
            </a:r>
          </a:p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V6 دلالات عملة صارمة وتسوية فروق آلية</a:t>
            </a:r>
          </a:p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V7 معاملة ذرية واحدة لكل أسطر القيد</a:t>
            </a:r>
          </a:p>
          <a:p>
            <a:pPr algn="r" rtl="1">
              <a:lnSpc>
                <a:spcPct val="118000"/>
              </a:lnSpc>
              <a:spcAft>
                <a:spcPts val="400"/>
              </a:spcAft>
            </a:pPr>
            <a:r>
              <a:rPr sz="13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Segoe UI"/>
                <a:cs typeface="Segoe UI"/>
              </a:rPr>
              <a:t>V8 تسلسل أرقام مقفل بلا فجوات للمرحَّل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محرك الترحيل بالأحداث — كيف تولد القيود؟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Event-Driven Posting Engine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7" name="Chevron 6"/>
          <p:cNvSpPr/>
          <p:nvPr/>
        </p:nvSpPr>
        <p:spPr>
          <a:xfrm>
            <a:off x="9537558" y="1463040"/>
            <a:ext cx="2196937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حدث تشغيلي
(بيع/ليلة/شراء)</a:t>
            </a:r>
          </a:p>
        </p:txBody>
      </p:sp>
      <p:sp>
        <p:nvSpPr>
          <p:cNvPr id="8" name="Chevron 7"/>
          <p:cNvSpPr/>
          <p:nvPr/>
        </p:nvSpPr>
        <p:spPr>
          <a:xfrm>
            <a:off x="7267469" y="1463040"/>
            <a:ext cx="2196937" cy="10515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خريطة الربط
(معتمدة محاسبياً)</a:t>
            </a:r>
          </a:p>
        </p:txBody>
      </p:sp>
      <p:sp>
        <p:nvSpPr>
          <p:cNvPr id="9" name="Chevron 8"/>
          <p:cNvSpPr/>
          <p:nvPr/>
        </p:nvSpPr>
        <p:spPr>
          <a:xfrm>
            <a:off x="4997380" y="1463040"/>
            <a:ext cx="2196937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تحقق القواعد
الثمانية</a:t>
            </a:r>
          </a:p>
        </p:txBody>
      </p:sp>
      <p:sp>
        <p:nvSpPr>
          <p:cNvPr id="10" name="Chevron 9"/>
          <p:cNvSpPr/>
          <p:nvPr/>
        </p:nvSpPr>
        <p:spPr>
          <a:xfrm>
            <a:off x="2727291" y="1463040"/>
            <a:ext cx="2196937" cy="10515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ترحيل ذري
+ Idempotency</a:t>
            </a:r>
          </a:p>
        </p:txBody>
      </p:sp>
      <p:sp>
        <p:nvSpPr>
          <p:cNvPr id="11" name="Pentagon 10"/>
          <p:cNvSpPr/>
          <p:nvPr/>
        </p:nvSpPr>
        <p:spPr>
          <a:xfrm>
            <a:off x="457202" y="1463040"/>
            <a:ext cx="2196937" cy="1051560"/>
          </a:xfrm>
          <a:prstGeom prst="homePlate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أثر تدقيقي
كامل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انعزال نظيف: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الوحدات لا تكتب قيوداً؛ تنشر أحداثاً (RoomNightPosted / POSSaleSettled...).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Idempotency بنيوي: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مفتاح فريد لكل حدث — إعادة الإرسال (أو المزامنة) آمنة 100%.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لا صمت: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الفاشل يذهب لطابور فقيدات + تنبيه — صفر فقدان مبرر.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قابل للشرح: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كل قيد يجيب «لماذا وُلد؟» من المستند المصدر حتى الأسطر.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94960"/>
            <a:ext cx="10881360" cy="10515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5394960"/>
            <a:ext cx="1088136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5513832"/>
            <a:ext cx="10661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خريطة الربط قابلة للتكوين لكنها مصونة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961888"/>
            <a:ext cx="10661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تعديلها صلاحية خاصة جداً وبسجل تدقيق — النسخة المعتمدة في ملف المواصفة 02 هي المرجع الملزم.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عينات من خريطة القيود المعتمدة (المصفوفة الكاملة: 32 عملية)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Journal Mapping — Samples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8016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700"/>
                <a:gridCol w="4046220"/>
              </a:tblGrid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القيد الناتج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العملية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نقدية/بنك | أمانات الحجوزات 2110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استلام عربون حجز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ذمة نزيل 1110 | إيراد غرف 4101 + ضريبة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ترحيل ليلة إقامة (تدقيق ليلي)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صندوق POS | إيراد 42xx + ض … وتكلفة 5101 | مخزون 1210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بيع POS نقدي + تكلفة تلقائية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مخزون 1210 | ذمة موردين 2101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شراء مخزون آجل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رواتب الأقسام 6xxx | رواتب مستحقة 2310 + سلف + استقطاعات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استحقاق الرواتب (اعتماد مزدوج)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مصروف إهلاك 7101 | مجمع إهلاك 1590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إهلاك شهري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ذمة مدينة 1120 | ذمة نزيل 1110 (إقفال الفوليو)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نقل ذمة لشركة عند الخروج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قيد عكسي مطابق موثق السبب — والأصل يبقى مصوناً كما ورد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عكس لاحق لأي خطأ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B03A2E"/>
                </a:solidFill>
                <a:latin typeface="Segoe UI"/>
                <a:cs typeface="Segoe UI"/>
              </a:rPr>
              <a:t>قاعدة الامتحان: أي قيد يخالف مصفوفة المواصفة 02 يُصنَّف عيباً برمجياً مهما كان مبرره.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دورة العمل اليومية — من الحجز إلى ختم اليوم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Daily Operations Cycle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7" name="Chevron 6"/>
          <p:cNvSpPr/>
          <p:nvPr/>
        </p:nvSpPr>
        <p:spPr>
          <a:xfrm>
            <a:off x="9915906" y="1554480"/>
            <a:ext cx="181858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50" b="1" i="0">
                <a:solidFill>
                  <a:srgbClr val="FFFFFF"/>
                </a:solidFill>
                <a:latin typeface="Segoe UI"/>
                <a:cs typeface="Segoe UI"/>
              </a:rPr>
              <a:t>حجز ومنع مزدوج
بقيد زمني حصري</a:t>
            </a:r>
          </a:p>
        </p:txBody>
      </p:sp>
      <p:sp>
        <p:nvSpPr>
          <p:cNvPr id="8" name="Chevron 7"/>
          <p:cNvSpPr/>
          <p:nvPr/>
        </p:nvSpPr>
        <p:spPr>
          <a:xfrm>
            <a:off x="8024165" y="1554480"/>
            <a:ext cx="1818589" cy="100584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50" b="1" i="0">
                <a:solidFill>
                  <a:srgbClr val="FFFFFF"/>
                </a:solidFill>
                <a:latin typeface="Segoe UI"/>
                <a:cs typeface="Segoe UI"/>
              </a:rPr>
              <a:t>عربون ← أمانات
(خصم لا إيراد)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4" y="1554480"/>
            <a:ext cx="181858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50" b="1" i="0">
                <a:solidFill>
                  <a:srgbClr val="FFFFFF"/>
                </a:solidFill>
                <a:latin typeface="Segoe UI"/>
                <a:cs typeface="Segoe UI"/>
              </a:rPr>
              <a:t>دخول خلال 60ث
تخصيص غرفة نظيفة</a:t>
            </a:r>
          </a:p>
        </p:txBody>
      </p:sp>
      <p:sp>
        <p:nvSpPr>
          <p:cNvPr id="10" name="Chevron 9"/>
          <p:cNvSpPr/>
          <p:nvPr/>
        </p:nvSpPr>
        <p:spPr>
          <a:xfrm>
            <a:off x="4240683" y="1554480"/>
            <a:ext cx="1818589" cy="100584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50" b="1" i="0">
                <a:solidFill>
                  <a:srgbClr val="FFFFFF"/>
                </a:solidFill>
                <a:latin typeface="Segoe UI"/>
                <a:cs typeface="Segoe UI"/>
              </a:rPr>
              <a:t>فوليو حي
شحنات من المصادر</a:t>
            </a:r>
          </a:p>
        </p:txBody>
      </p:sp>
      <p:sp>
        <p:nvSpPr>
          <p:cNvPr id="11" name="Chevron 10"/>
          <p:cNvSpPr/>
          <p:nvPr/>
        </p:nvSpPr>
        <p:spPr>
          <a:xfrm>
            <a:off x="2348942" y="1554480"/>
            <a:ext cx="181858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50" b="1" i="0">
                <a:solidFill>
                  <a:srgbClr val="FFFFFF"/>
                </a:solidFill>
                <a:latin typeface="Segoe UI"/>
                <a:cs typeface="Segoe UI"/>
              </a:rPr>
              <a:t>تدقيق ليلي
ترحيل الليالٍ ذرياً</a:t>
            </a:r>
          </a:p>
        </p:txBody>
      </p:sp>
      <p:sp>
        <p:nvSpPr>
          <p:cNvPr id="12" name="Pentagon 11"/>
          <p:cNvSpPr/>
          <p:nvPr/>
        </p:nvSpPr>
        <p:spPr>
          <a:xfrm>
            <a:off x="457201" y="1554480"/>
            <a:ext cx="1818589" cy="1005840"/>
          </a:xfrm>
          <a:prstGeom prst="homePlate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50" b="1" i="0">
                <a:solidFill>
                  <a:srgbClr val="FFFFFF"/>
                </a:solidFill>
                <a:latin typeface="Segoe UI"/>
                <a:cs typeface="Segoe UI"/>
              </a:rPr>
              <a:t>خروج: تصفية
وفاتورة نظامية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تاريخ العمل ≠ ساعة الجهاز: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اليوم يتقدم بختم التدقيق الليلي فقط — تأمين زمني بنيوي.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الفوليو = ذمة حية: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رصيد الواجهة = رصيد ذمة النزيل محاسبياً لحظياً (اختبار قبول).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الخروج يفرض التصفية: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لا فاتورة مغلقة برصيد؛ التصحيح لاحقاً بإشعار دائن وقيد عكسي.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غرف OOO/OOS: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تُستبعد آلياً من البيع، وتعارضها مع حجز = تنبيه أحمر فوري.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التدقيق الليلي — الإجراء المحاسبي المحوري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Night Audit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فحص الوصولات والمغادرات المعلقة (Check-in / No-Show / تمديد)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ترحيل ليالٍ الإقامة ذرياً: كل الغرف المشغولة أو لا شيء — قيد موحد لكل ليلة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شحنات آلية مجدولة + مطابقة صناديق الورديات وتحويلات المدينة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مراجعة استثناءات ذكية: إقامات بلا دفعات، خصومات فوق الحدود، أسعار خارج السياسة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ختم اليوم: تقرير PDF مؤرشف موقَّع + جذر تجزئة تدقيق اليوم ← تاريخ العمل يتقدم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إعادة فتح يوم: صلاحية مزدوجة + سبب + أثر تدقيقي دائم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92040"/>
            <a:ext cx="10881360" cy="13716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892040"/>
            <a:ext cx="1088136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5010912"/>
            <a:ext cx="10661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لماذا يهم المحاسب المراجع؟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458968"/>
            <a:ext cx="106619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لأنه يفرض مبدأ الاستحقاق فعلياً: إيراد الليلة في ليلتها، مع مانع تكرار بنيوي (مفتاح فريد لكل غرفة/تاريخ)، وحماية زمنية من الرجوع بالساعة.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المعمارية الهجينة: لكل بيان «مالك حقيقة» واحد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Hybrid — System of Record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4847"/>
                <a:gridCol w="2593181"/>
                <a:gridCol w="3976211"/>
              </a:tblGrid>
              <a:tr h="475488">
                <a:tc>
                  <a:txBody>
                    <a:bodyPr/>
                    <a:lstStyle/>
                    <a:p>
                      <a:pPr algn="r" rtl="1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اتجاه وقاعدة المزامنة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مالك الحقيقة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نوع البيانات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إلحاق-فقط نحو السحابة؛ لا تعديل سحابي أبداً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العقدة المحلية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قيود وماليات ومستندات اليوم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نحو المحلي وتُطبق سليمة موقعة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السحابة (الشركة)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تراخيص وإلغاء وخطط وحدود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ثنائي محكوم بقواعد تعارض صارمة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حسب إعداد الجدول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ماسترات مشتركة (أصناف/أسعار)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بناء من الأحداث فقط وقابلة للمطابقة بالميزان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مشتقة سحابياً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تقارير المالك المركزية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0690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لا سحر: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الماليات لا تتعارض بنيوياً؛ وأي «تعارض» ظاهر يدخل صندوق مراجعة بشري بشاشة مقارنة.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تسامح انقطاع: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انقطاع الإنترنت لا يوقف شيئاً محلياً — أحداث تتراكم ثم تُرفع عند العودة.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أداء مصمم: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حدث مالي للسحابة في ≤ 90 ث، ويوم فندق 300 غرفة يتزامن في &lt; 5 دقائق على 4G.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خط المزامنة: لا فقدان ولا ازدواج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Sync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7" name="Chevron 6"/>
          <p:cNvSpPr/>
          <p:nvPr/>
        </p:nvSpPr>
        <p:spPr>
          <a:xfrm>
            <a:off x="9915906" y="1600200"/>
            <a:ext cx="181858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Segoe UI"/>
                <a:cs typeface="Segoe UI"/>
              </a:rPr>
              <a:t>التقاط Outbox
مع بياناته بنفس المعاملة</a:t>
            </a:r>
          </a:p>
        </p:txBody>
      </p:sp>
      <p:sp>
        <p:nvSpPr>
          <p:cNvPr id="8" name="Chevron 7"/>
          <p:cNvSpPr/>
          <p:nvPr/>
        </p:nvSpPr>
        <p:spPr>
          <a:xfrm>
            <a:off x="8024165" y="1600200"/>
            <a:ext cx="1818589" cy="100584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Segoe UI"/>
                <a:cs typeface="Segoe UI"/>
              </a:rPr>
              <a:t>نقل دفعات TLS
مضغوطة وموقعة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4" y="1600200"/>
            <a:ext cx="181858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Segoe UI"/>
                <a:cs typeface="Segoe UI"/>
              </a:rPr>
              <a:t>Inbox يخزن الخام</a:t>
            </a:r>
          </a:p>
        </p:txBody>
      </p:sp>
      <p:sp>
        <p:nvSpPr>
          <p:cNvPr id="10" name="Chevron 9"/>
          <p:cNvSpPr/>
          <p:nvPr/>
        </p:nvSpPr>
        <p:spPr>
          <a:xfrm>
            <a:off x="4240683" y="1600200"/>
            <a:ext cx="1818589" cy="100584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Segoe UI"/>
                <a:cs typeface="Segoe UI"/>
              </a:rPr>
              <a:t>تطبيق مرتب
+ Idempotency</a:t>
            </a:r>
          </a:p>
        </p:txBody>
      </p:sp>
      <p:sp>
        <p:nvSpPr>
          <p:cNvPr id="11" name="Chevron 10"/>
          <p:cNvSpPr/>
          <p:nvPr/>
        </p:nvSpPr>
        <p:spPr>
          <a:xfrm>
            <a:off x="2348942" y="1600200"/>
            <a:ext cx="181858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Segoe UI"/>
                <a:cs typeface="Segoe UI"/>
              </a:rPr>
              <a:t>ACK + استئناف
من آخر تسلسل</a:t>
            </a:r>
          </a:p>
        </p:txBody>
      </p:sp>
      <p:sp>
        <p:nvSpPr>
          <p:cNvPr id="12" name="Pentagon 11"/>
          <p:cNvSpPr/>
          <p:nvPr/>
        </p:nvSpPr>
        <p:spPr>
          <a:xfrm>
            <a:off x="457201" y="1600200"/>
            <a:ext cx="1818589" cy="1005840"/>
          </a:xfrm>
          <a:prstGeom prst="homePlate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Segoe UI"/>
                <a:cs typeface="Segoe UI"/>
              </a:rPr>
              <a:t>فاحص Anti-Entropy
يومي بالمجاميع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القاعدة الذهبية: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لا قيد بلا حدث ولا حدث بلا قيد — الالتقاط داخل نفس المعاملة.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فجوة تسلسل = إنذار: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استدراك تلقائي للمدى المفقود عبر Anti-Entropy — لا انتظار شكوى.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اختبار الفوضى إلزامي: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قتل شبكة/طاقة عشوائياً ألف مرة = صفر فقدان وصفر ازدواج (بوابة قبول).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قناة USB مشفرة موقعة: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للمواقع شديدة العزلة — المزامنة حق للجميع لا امتياز المتصلين.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معمارية التراخيص: حماية الإيراد بكرامة العميل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Licensing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257800" cy="22860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25780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399032"/>
            <a:ext cx="5038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صلابة تقنية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847088"/>
            <a:ext cx="503834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ملف موقَّع Ed25519 — التعديل يرفض فوراً.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بصمة جهاز للمحليين + كشف رجوع بالساعة.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فحص سلامة ذاتي + قناة نبض بشهادة مثبتة.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قائمة إلغاء متدرجة الإصدار تسير مع المزامنة.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80160"/>
            <a:ext cx="5623560" cy="22860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80160"/>
            <a:ext cx="562356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99032"/>
            <a:ext cx="54041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رحمة تشغيلية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540410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مهلة سماح (30 يوم افتراضياً) بكامل الخدمة.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بعدها: قراءة فقط — التقارير والطباعة والتصدير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والنسخ تعمل كاملة (حق العميل ببياناته مطلق).</a:t>
            </a:r>
          </a:p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ممنوع: حذف/تشفير بيانات العميل أو تعطيل تصديرها.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128771"/>
                </a:solidFill>
                <a:latin typeface="Segoe UI"/>
                <a:cs typeface="Segoe UI"/>
              </a:rPr>
              <a:t>القيمة الحقيقية لا تُنسخ: تحديثات مستمرة، دعم فعلي، نسخ سحابي، تقارير مالك مركزية — لهذا يتجدد الاشتراك.</a:t>
            </a:r>
          </a:p>
        </p:txBody>
      </p:sp>
      <p:sp>
        <p:nvSpPr>
          <p:cNvPr id="16" name="Chevron 15"/>
          <p:cNvSpPr/>
          <p:nvPr/>
        </p:nvSpPr>
        <p:spPr>
          <a:xfrm>
            <a:off x="9537558" y="4937760"/>
            <a:ext cx="2196937" cy="8229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إصدار من لوحة الشركة</a:t>
            </a:r>
          </a:p>
        </p:txBody>
      </p:sp>
      <p:sp>
        <p:nvSpPr>
          <p:cNvPr id="17" name="Chevron 16"/>
          <p:cNvSpPr/>
          <p:nvPr/>
        </p:nvSpPr>
        <p:spPr>
          <a:xfrm>
            <a:off x="7267469" y="4937760"/>
            <a:ext cx="2196937" cy="8229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ربط بصمة الجهاز</a:t>
            </a:r>
          </a:p>
        </p:txBody>
      </p:sp>
      <p:sp>
        <p:nvSpPr>
          <p:cNvPr id="18" name="Chevron 17"/>
          <p:cNvSpPr/>
          <p:nvPr/>
        </p:nvSpPr>
        <p:spPr>
          <a:xfrm>
            <a:off x="4997380" y="4937760"/>
            <a:ext cx="2196937" cy="8229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تحقق دوري كل 6 ساعات</a:t>
            </a:r>
          </a:p>
        </p:txBody>
      </p:sp>
      <p:sp>
        <p:nvSpPr>
          <p:cNvPr id="19" name="Chevron 18"/>
          <p:cNvSpPr/>
          <p:nvPr/>
        </p:nvSpPr>
        <p:spPr>
          <a:xfrm>
            <a:off x="2727291" y="4937760"/>
            <a:ext cx="2196937" cy="8229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تنبيه تجديد مبكر</a:t>
            </a:r>
          </a:p>
        </p:txBody>
      </p:sp>
      <p:sp>
        <p:nvSpPr>
          <p:cNvPr id="20" name="Pentagon 19"/>
          <p:cNvSpPr/>
          <p:nvPr/>
        </p:nvSpPr>
        <p:spPr>
          <a:xfrm>
            <a:off x="457202" y="4937760"/>
            <a:ext cx="2196937" cy="822960"/>
          </a:xfrm>
          <a:prstGeom prst="homePlate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تجديد سلس بلا توقف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نموذج الأمان — دفاع بالعمق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Security Model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49240" cy="1508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4924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99032"/>
            <a:ext cx="51297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الهوية والجلسات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47088"/>
            <a:ext cx="51297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Argon2id، قفل تدريجي، MFA/TOTP للأدوار العليا، JWT قصير بدوران وكشف إعادة استخدام.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80160"/>
            <a:ext cx="5349240" cy="1508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80160"/>
            <a:ext cx="534924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99032"/>
            <a:ext cx="51297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التفويض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51297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RBAC برفض افتراضي، حدود مالية لكل دور، فصل واجبات إجباري، نطاق فرع مفروض، خصوصية صفية للرواتب.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71800"/>
            <a:ext cx="5349240" cy="1508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71800"/>
            <a:ext cx="534924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090672"/>
            <a:ext cx="51297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التشفير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38728"/>
            <a:ext cx="51297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TLS 1.2+ لكل شيء، أعمدة حساسة AES-256-GCM، نسخ مشفرة، KEK/DEK ودوران موثق.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5349240" cy="1508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71800"/>
            <a:ext cx="534924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90672"/>
            <a:ext cx="51297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تدقيق مقاوم للتلاعب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38728"/>
            <a:ext cx="51297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سلسلة تجزئة لكل حدث + ختم يومي مؤرشف يكشف أي كسر بعده — بصمة خارجية للتاريخ.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37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7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إلزاميات خط الإصدار: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SAST + فحص تبعيات وأسرار + DAST + اختبار RBAC سالب آلي + Pentest سنوي قبل كل Major.</a:t>
            </a:r>
          </a:p>
          <a:p>
            <a:pPr algn="r" rtl="1">
              <a:lnSpc>
                <a:spcPct val="118000"/>
              </a:lnSpc>
              <a:spcAft>
                <a:spcPts val="7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استجابة حوادث بشرف: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إبلاغ عملاء متأثرين خلال 72 ساعة عند مساس ببياناتهم — الشفافية ميزة بيع.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الضوابط البنيوية في قاعدة البيانات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DB-Level Enforcement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منع التعديل بنيوياً: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REVOKE UPDATE/DELETE على القيود وسجل التدقيق + Trigger يرفض المساس بأي مرحَّل.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توازن بلا ثغرة: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CHECK على الأسطر + قيد ترحيل مؤجل يتحقق من توازن القيد كاملاً.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منع حجز مزدوج: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تقييد زمني حصري (Exclusion Constraint) على نطاق إشغال الغرفة — لا منطق هش.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منع تكرار الأحداث: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event_key فريد + Idempotency-Key على كل POST مالي عبر API.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تقسيم شهري: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جداول حرارية (أسطر القيود/التدقيق/الأحداث/المخزون) Partitioned مع فهارس مصممة.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عزل صف الحقيقة: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RLS بالسحابي مع FORCE — عميل لا يرى غيره حتى لو أخطأ الكود.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57800"/>
            <a:ext cx="10881360" cy="118872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257800"/>
            <a:ext cx="1088136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5376672"/>
            <a:ext cx="10661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الأرصدة مشتقة — لماذا قرار معماري؟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824728"/>
            <a:ext cx="10661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لأنها تلغي أكثر انشقاقات المزامنة شيوعاً: لا «قيمة رصيد» تتعارض؛ الأرصدة تعاد من الأحداث دائماً.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لوحة تحكم الشركة — عزل تام، إدارة كاملة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Vendor Control Panel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7" name="Chevron 6"/>
          <p:cNvSpPr/>
          <p:nvPr/>
        </p:nvSpPr>
        <p:spPr>
          <a:xfrm>
            <a:off x="9537558" y="1417320"/>
            <a:ext cx="2196937" cy="86868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عميل وعقد</a:t>
            </a:r>
          </a:p>
        </p:txBody>
      </p:sp>
      <p:sp>
        <p:nvSpPr>
          <p:cNvPr id="8" name="Chevron 7"/>
          <p:cNvSpPr/>
          <p:nvPr/>
        </p:nvSpPr>
        <p:spPr>
          <a:xfrm>
            <a:off x="7267469" y="1417320"/>
            <a:ext cx="2196937" cy="86868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إصدار ترخيص</a:t>
            </a:r>
          </a:p>
        </p:txBody>
      </p:sp>
      <p:sp>
        <p:nvSpPr>
          <p:cNvPr id="9" name="Chevron 8"/>
          <p:cNvSpPr/>
          <p:nvPr/>
        </p:nvSpPr>
        <p:spPr>
          <a:xfrm>
            <a:off x="4997380" y="1417320"/>
            <a:ext cx="2196937" cy="86868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اشتراك وفوترة</a:t>
            </a:r>
          </a:p>
        </p:txBody>
      </p:sp>
      <p:sp>
        <p:nvSpPr>
          <p:cNvPr id="10" name="Chevron 9"/>
          <p:cNvSpPr/>
          <p:nvPr/>
        </p:nvSpPr>
        <p:spPr>
          <a:xfrm>
            <a:off x="2727291" y="1417320"/>
            <a:ext cx="2196937" cy="86868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تذاكر دعم بSLA</a:t>
            </a:r>
          </a:p>
        </p:txBody>
      </p:sp>
      <p:sp>
        <p:nvSpPr>
          <p:cNvPr id="11" name="Pentagon 10"/>
          <p:cNvSpPr/>
          <p:nvPr/>
        </p:nvSpPr>
        <p:spPr>
          <a:xfrm>
            <a:off x="457202" y="1417320"/>
            <a:ext cx="2196937" cy="868680"/>
          </a:xfrm>
          <a:prstGeom prst="homePlate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تجديد آلي عقب التحصيل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إدارة الإيراد: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ملفات عملاء وعقود واشتراكات وتحصيل ومتأخرين — مؤشرات MRR/ARR/تجديد/Churn حية.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إدارة التراخيص: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إصدار/تجديد/حدود/إيقاف بتوقيع آمن واعتماد ثانٍ خارج الخطة (Dual Control).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صحة الأسطول: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نبض المواقع الهجينة: آخر اتصال وصحة مزامنة وآخر نسخة احتياطية ونسخة المنتج.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تحديثات متدرجة: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Canary ← تعميم، حزم موقعة لا تُطبق بلا تحقق، وسجل نجاح كل تحديث.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دعم بمصداقية: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جلسات عن بُعد مفوَّضة زمنياً ومبررة بتذكرة ومسجلة بالكامل — يطّلع عليها العميل.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577840"/>
            <a:ext cx="10881360" cy="9144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5577840"/>
            <a:ext cx="1088136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5696712"/>
            <a:ext cx="10661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حكم التصميم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6144768"/>
            <a:ext cx="106619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بيانات العميل التشغيلية لا تُخزَّن باللوحة إلا مجمَّعة وبموافقة العقد — ثقة تُباع.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حوكمة البناء: بوابات إلزامية لا وعود زمنية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Build Gates G0 → G12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17</a:t>
            </a:r>
          </a:p>
        </p:txBody>
      </p:sp>
      <p:sp>
        <p:nvSpPr>
          <p:cNvPr id="7" name="Chevron 6"/>
          <p:cNvSpPr/>
          <p:nvPr/>
        </p:nvSpPr>
        <p:spPr>
          <a:xfrm>
            <a:off x="9915906" y="1554480"/>
            <a:ext cx="1818589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G0 أساس وهوية
وAudit حي</a:t>
            </a:r>
          </a:p>
        </p:txBody>
      </p:sp>
      <p:sp>
        <p:nvSpPr>
          <p:cNvPr id="8" name="Chevron 7"/>
          <p:cNvSpPr/>
          <p:nvPr/>
        </p:nvSpPr>
        <p:spPr>
          <a:xfrm>
            <a:off x="8024165" y="1554480"/>
            <a:ext cx="1818589" cy="10515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G1 محرك محاسبي
بشهر متوازن موقَّع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4" y="1554480"/>
            <a:ext cx="1818589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G2-7 وحدات
بمعايير قبول لكل وحدة</a:t>
            </a:r>
          </a:p>
        </p:txBody>
      </p:sp>
      <p:sp>
        <p:nvSpPr>
          <p:cNvPr id="10" name="Chevron 9"/>
          <p:cNvSpPr/>
          <p:nvPr/>
        </p:nvSpPr>
        <p:spPr>
          <a:xfrm>
            <a:off x="4240683" y="1554480"/>
            <a:ext cx="1818589" cy="10515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G8-10 ترخيص
لوحة شركة، مزامنة
واختبار فوضى</a:t>
            </a:r>
          </a:p>
        </p:txBody>
      </p:sp>
      <p:sp>
        <p:nvSpPr>
          <p:cNvPr id="11" name="Chevron 10"/>
          <p:cNvSpPr/>
          <p:nvPr/>
        </p:nvSpPr>
        <p:spPr>
          <a:xfrm>
            <a:off x="2348942" y="1554480"/>
            <a:ext cx="1818589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G11 صلابة:
أداء، أمن، DR</a:t>
            </a:r>
          </a:p>
        </p:txBody>
      </p:sp>
      <p:sp>
        <p:nvSpPr>
          <p:cNvPr id="12" name="Pentagon 11"/>
          <p:cNvSpPr/>
          <p:nvPr/>
        </p:nvSpPr>
        <p:spPr>
          <a:xfrm>
            <a:off x="457201" y="1554480"/>
            <a:ext cx="1818589" cy="1051560"/>
          </a:xfrm>
          <a:prstGeom prst="homePlate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G12 تجربة حقيقية
60 يوماً ثم إطلاق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لا يُعبر بلا توقيع: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بوابتا محاسبة (G1/G7) بتوقيع محاسب مراجع قبل أي توسع — لا اقتصاد هنا.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مراجعة أسبوعية صادقة: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أسبوع بلا تقدم عبر بوابة = مراجعة سبب فورية، لا «لحاق» تراكمي.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نطاق v1.0 مجمَّد: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أي طلب جديد يُقيَّم بأثر ولا يدخل أثناء المرحلة — انتفاخ النطاق قاتل الصامت.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  <a:cs typeface="Segoe UI"/>
              </a:rPr>
              <a:t>من أين نبدأ غداً؟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700" b="0" i="0">
                <a:solidFill>
                  <a:srgbClr val="D5DEE8"/>
                </a:solidFill>
                <a:latin typeface="Segoe UI"/>
                <a:cs typeface="Segoe UI"/>
              </a:rPr>
              <a:t>المطور/وكيل البناء: ملف 15 (البرومبت الرئيسي) ثم 01 ← 02 ← 11 ← 12</a:t>
            </a:r>
          </a:p>
          <a:p>
            <a:pPr algn="r" rtl="1"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700" b="0" i="0">
                <a:solidFill>
                  <a:srgbClr val="D5DEE8"/>
                </a:solidFill>
                <a:latin typeface="Segoe UI"/>
                <a:cs typeface="Segoe UI"/>
              </a:rPr>
              <a:t>المحاسب المراجع: ملف 02 (خاصة مصفوفة القيود) ثم 13 و14 وقوائم الفحص</a:t>
            </a:r>
          </a:p>
          <a:p>
            <a:pPr algn="r" rtl="1"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700" b="0" i="0">
                <a:solidFill>
                  <a:srgbClr val="D5DEE8"/>
                </a:solidFill>
                <a:latin typeface="Segoe UI"/>
                <a:cs typeface="Segoe UI"/>
              </a:rPr>
              <a:t>المؤسس: ملف PDF الرئيسي كاملاً ثم وثائق الأعمال وخارطة الطريق</a:t>
            </a:r>
          </a:p>
          <a:p>
            <a:pPr algn="r" rtl="1">
              <a:lnSpc>
                <a:spcPct val="118000"/>
              </a:lnSpc>
              <a:spcAft>
                <a:spcPts val="1200"/>
              </a:spcAft>
            </a:pPr>
            <a:r>
              <a:rPr sz="1700" b="1" i="0">
                <a:solidFill>
                  <a:srgbClr val="C9A227"/>
                </a:solidFill>
                <a:latin typeface="Segoe UI"/>
                <a:cs typeface="Segoe UI"/>
              </a:rPr>
              <a:t>◂  </a:t>
            </a:r>
            <a:r>
              <a:rPr sz="1700" b="0" i="0">
                <a:solidFill>
                  <a:srgbClr val="D5DEE8"/>
                </a:solidFill>
                <a:latin typeface="Segoe UI"/>
                <a:cs typeface="Segoe UI"/>
              </a:rPr>
              <a:t>الكل: النسخة الحاكمة داخل حزمة ZIP بالمستودع — لا نسخ جانبية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شكراً لكم — نظام أثير: أرقام تُثق، وعمل لا يتوقف.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