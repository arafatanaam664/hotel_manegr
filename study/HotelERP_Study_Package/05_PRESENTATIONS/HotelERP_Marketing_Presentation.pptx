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1463040"/>
            <a:ext cx="82296" cy="3108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326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فندقك يعمل… وأرقامك مضبوطة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 i="0">
                <a:solidFill>
                  <a:srgbClr val="C9A227"/>
                </a:solidFill>
                <a:latin typeface="Segoe UI"/>
                <a:cs typeface="Segoe UI"/>
              </a:rPr>
              <a:t>أثير — نظام إدارة الفنادق المحاسبي المتكامل: محلي، سحابي، وهجين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500" b="0" i="0">
                <a:solidFill>
                  <a:srgbClr val="D5DEE8"/>
                </a:solidFill>
                <a:latin typeface="Segoe UI"/>
                <a:cs typeface="Segoe UI"/>
              </a:rPr>
              <a:t>كل عملية في فندقك تتحول تلقائياً لقيود محاسبية صحيحة — بلا محاسب يدوي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500" b="0" i="0">
                <a:solidFill>
                  <a:srgbClr val="D5DEE8"/>
                </a:solidFill>
                <a:latin typeface="Segoe UI"/>
                <a:cs typeface="Segoe UI"/>
              </a:rPr>
              <a:t>يعمل بلا إنترنت إطلاقاً… ويتزامن مع السحابة حين تريد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500" b="0" i="0">
                <a:solidFill>
                  <a:srgbClr val="D5DEE8"/>
                </a:solidFill>
                <a:latin typeface="Segoe UI"/>
                <a:cs typeface="Segoe UI"/>
              </a:rPr>
              <a:t>إيرادك ونقدك ومخزونك وموظفوك — في مكان واحد موثوق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806440"/>
            <a:ext cx="3657600" cy="502920"/>
          </a:xfrm>
          <a:prstGeom prst="round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 rtl="1"/>
            <a:r>
              <a:rPr sz="1300" b="1" i="0">
                <a:solidFill>
                  <a:srgbClr val="C9A227"/>
                </a:solidFill>
                <a:latin typeface="Segoe UI"/>
                <a:cs typeface="Segoe UI"/>
              </a:rPr>
              <a:t>عرض تعريفي للإدارة والملاك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المشكلة التي يعيشها كل فندق بلا نظام صحيح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The Pain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600" b="1" i="0">
                <a:solidFill>
                  <a:srgbClr val="1D4E79"/>
                </a:solidFill>
                <a:latin typeface="Segoe UI"/>
                <a:cs typeface="Segoe UI"/>
              </a:rPr>
              <a:t>تسرب صامت: </a:t>
            </a:r>
            <a:r>
              <a:rPr sz="1600" b="0" i="0">
                <a:solidFill>
                  <a:srgbClr val="1F2933"/>
                </a:solidFill>
                <a:latin typeface="Segoe UI"/>
                <a:cs typeface="Segoe UI"/>
              </a:rPr>
              <a:t>نقد يتحرك بلا تطابق لحظي — والفروقات تُكتشف بعد فوات الأوان.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600" b="1" i="0">
                <a:solidFill>
                  <a:srgbClr val="1D4E79"/>
                </a:solidFill>
                <a:latin typeface="Segoe UI"/>
                <a:cs typeface="Segoe UI"/>
              </a:rPr>
              <a:t>فوضى مستندات: </a:t>
            </a:r>
            <a:r>
              <a:rPr sz="1600" b="0" i="0">
                <a:solidFill>
                  <a:srgbClr val="1F2933"/>
                </a:solidFill>
                <a:latin typeface="Segoe UI"/>
                <a:cs typeface="Segoe UI"/>
              </a:rPr>
              <a:t>فواتير وإيصالات وإكسلات متفرقة لا تجتمع في رقم واحد صادق.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600" b="1" i="0">
                <a:solidFill>
                  <a:srgbClr val="1D4E79"/>
                </a:solidFill>
                <a:latin typeface="Segoe UI"/>
                <a:cs typeface="Segoe UI"/>
              </a:rPr>
              <a:t>خوف التوقف: </a:t>
            </a:r>
            <a:r>
              <a:rPr sz="1600" b="0" i="0">
                <a:solidFill>
                  <a:srgbClr val="1F2933"/>
                </a:solidFill>
                <a:latin typeface="Segoe UI"/>
                <a:cs typeface="Segoe UI"/>
              </a:rPr>
              <a:t>انقطاع كهرباء أو إنترنت يشل نظام سحابي — والفندق لا يعرف الانتظار.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600" b="1" i="0">
                <a:solidFill>
                  <a:srgbClr val="1D4E79"/>
                </a:solidFill>
                <a:latin typeface="Segoe UI"/>
                <a:cs typeface="Segoe UI"/>
              </a:rPr>
              <a:t>مراجعة مرهقة: </a:t>
            </a:r>
            <a:r>
              <a:rPr sz="1600" b="0" i="0">
                <a:solidFill>
                  <a:srgbClr val="1F2933"/>
                </a:solidFill>
                <a:latin typeface="Segoe UI"/>
                <a:cs typeface="Segoe UI"/>
              </a:rPr>
              <a:t>نهاية السنة تعني أسابيع من «اجمع الأوراق» بدل كبسة تقرير جاهز.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600" b="1" i="0">
                <a:solidFill>
                  <a:srgbClr val="1D4E79"/>
                </a:solidFill>
                <a:latin typeface="Segoe UI"/>
                <a:cs typeface="Segoe UI"/>
              </a:rPr>
              <a:t>قرار بلا بيانات: </a:t>
            </a:r>
            <a:r>
              <a:rPr sz="1600" b="0" i="0">
                <a:solidFill>
                  <a:srgbClr val="1F2933"/>
                </a:solidFill>
                <a:latin typeface="Segoe UI"/>
                <a:cs typeface="Segoe UI"/>
              </a:rPr>
              <a:t>أي غرف تربح؟ أي منفذ ينزف؟ الإجابة تخمين لا أرقام.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10911535" cy="1097280"/>
          </a:xfrm>
          <a:prstGeom prst="round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101800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  <a:cs typeface="Segoe UI"/>
              </a:rPr>
              <a:t>المشكلة البسيطة بلا نظام: أنت تدير فندقاً بأموالك… ولا ترى أموالك.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الحل: نظام واحد يحاسب عنك من أول عملية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The Solution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7" name="Chevron 6"/>
          <p:cNvSpPr/>
          <p:nvPr/>
        </p:nvSpPr>
        <p:spPr>
          <a:xfrm>
            <a:off x="8970036" y="1554480"/>
            <a:ext cx="2764459" cy="100584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الموظف ينفذ عمله
(حجز/بيع/صرف)</a:t>
            </a:r>
          </a:p>
        </p:txBody>
      </p:sp>
      <p:sp>
        <p:nvSpPr>
          <p:cNvPr id="8" name="Chevron 7"/>
          <p:cNvSpPr/>
          <p:nvPr/>
        </p:nvSpPr>
        <p:spPr>
          <a:xfrm>
            <a:off x="6132425" y="1554480"/>
            <a:ext cx="2764459" cy="100584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النظام يولّد
القيد تلقائياً</a:t>
            </a:r>
          </a:p>
        </p:txBody>
      </p:sp>
      <p:sp>
        <p:nvSpPr>
          <p:cNvPr id="9" name="Chevron 8"/>
          <p:cNvSpPr/>
          <p:nvPr/>
        </p:nvSpPr>
        <p:spPr>
          <a:xfrm>
            <a:off x="3294814" y="1554480"/>
            <a:ext cx="2764459" cy="100584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توازن مضمون
مدين = دائن دائماً</a:t>
            </a:r>
          </a:p>
        </p:txBody>
      </p:sp>
      <p:sp>
        <p:nvSpPr>
          <p:cNvPr id="10" name="Pentagon 9"/>
          <p:cNvSpPr/>
          <p:nvPr/>
        </p:nvSpPr>
        <p:spPr>
          <a:xfrm>
            <a:off x="457203" y="1554480"/>
            <a:ext cx="2764459" cy="1005840"/>
          </a:xfrm>
          <a:prstGeom prst="homePlate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250" b="1" i="0">
                <a:solidFill>
                  <a:srgbClr val="FFFFFF"/>
                </a:solidFill>
                <a:latin typeface="Segoe UI"/>
                <a:cs typeface="Segoe UI"/>
              </a:rPr>
              <a:t>تقاريرك جاهزة
في أي لحظة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لا يحتاج محاسباً خارقاً: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المحاسبة مبنية داخل النظام؛ موظفوك يعملون كعادتهم والقيود تُبنى وحدها.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صحيحة من أول يوم: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خريطة قيود معتمدة محاسبياً تغطي كل عملية فندقية — من العربون إلى إقفال السنة.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لا يقبل العبث: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لا حذف ولا تعديل للمستندات المرحلة؛ أي تصحيح موثق بأثر دائم يعرفه المدقق.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ست مزايا كبرى لا يجمعها منافس واحد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Why Atheer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25880"/>
            <a:ext cx="3611880" cy="16002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0" y="1325880"/>
            <a:ext cx="361188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1444752"/>
            <a:ext cx="33924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يعمل بلا إنترنت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189280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150" b="0" i="0">
                <a:solidFill>
                  <a:srgbClr val="1F2933"/>
                </a:solidFill>
                <a:latin typeface="Segoe UI"/>
                <a:cs typeface="Segoe UI"/>
              </a:rPr>
              <a:t>وضع محلي كامل السرعة — البيع والإقامة لا يتوقفان أبداً.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25880"/>
            <a:ext cx="3611880" cy="16002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61188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444752"/>
            <a:ext cx="33924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محاسبة مزدوجة أصيلة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89280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150" b="0" i="0">
                <a:solidFill>
                  <a:srgbClr val="1F2933"/>
                </a:solidFill>
                <a:latin typeface="Segoe UI"/>
                <a:cs typeface="Segoe UI"/>
              </a:rPr>
              <a:t>ميزان مراجعة متوازن كل يوم، لا «نظام يقارب» المحاسبة.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325880"/>
            <a:ext cx="3611880" cy="16002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25880"/>
            <a:ext cx="361188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444752"/>
            <a:ext cx="33924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هجين حقيقي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89280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150" b="0" i="0">
                <a:solidFill>
                  <a:srgbClr val="1F2933"/>
                </a:solidFill>
                <a:latin typeface="Segoe UI"/>
                <a:cs typeface="Segoe UI"/>
              </a:rPr>
              <a:t>تقرأ فنادقك من جوالك بينما تعمل الفنادق محلياً بلا اتصال.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063240"/>
            <a:ext cx="3611880" cy="16002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3063240"/>
            <a:ext cx="361188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3182112"/>
            <a:ext cx="33924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سجل لا يُزوَّر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363016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150" b="0" i="0">
                <a:solidFill>
                  <a:srgbClr val="1F2933"/>
                </a:solidFill>
                <a:latin typeface="Segoe UI"/>
                <a:cs typeface="Segoe UI"/>
              </a:rPr>
              <a:t>كل حركة مختومة بسلسلة تجزئة — خيانتها تنكشف فوراً.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063240"/>
            <a:ext cx="3611880" cy="16002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063240"/>
            <a:ext cx="361188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3182112"/>
            <a:ext cx="33924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ترخيص بكرامة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363016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150" b="0" i="0">
                <a:solidFill>
                  <a:srgbClr val="1F2933"/>
                </a:solidFill>
                <a:latin typeface="Segoe UI"/>
                <a:cs typeface="Segoe UI"/>
              </a:rPr>
              <a:t>انتهى اشتراكك؟ بياناتك تقرأ وتُصدَّر كاملة — لسنا hostage.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063240"/>
            <a:ext cx="3611880" cy="16002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63240"/>
            <a:ext cx="361188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182112"/>
            <a:ext cx="33924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عربية RTL أصيلة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63016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150" b="0" i="0">
                <a:solidFill>
                  <a:srgbClr val="1F2933"/>
                </a:solidFill>
                <a:latin typeface="Segoe UI"/>
                <a:cs typeface="Segoe UI"/>
              </a:rPr>
              <a:t>مصممة للعربية أولاً: واجهة سريعة، طباعة فواتير أنيقة.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9204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128771"/>
                </a:solidFill>
                <a:latin typeface="Segoe UI"/>
                <a:cs typeface="Segoe UI"/>
              </a:rPr>
              <a:t>مصمم لليمن أولاً: يتقن عمله حيث تنقطع الشبكات، لا حيث تكتمل المثالية.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أثير مقابل البدائل الموجودة اليوم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Comparison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5664"/>
                <a:gridCol w="2078736"/>
                <a:gridCol w="2267712"/>
                <a:gridCol w="1889760"/>
                <a:gridCol w="2456688"/>
              </a:tblGrid>
              <a:tr h="600891">
                <a:tc>
                  <a:txBody>
                    <a:bodyPr/>
                    <a:lstStyle/>
                    <a:p>
                      <a:pPr algn="r" rtl="1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أثير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سحابي أجنبي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برامج فوترة قديمة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إكسل/يدوي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المعيار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آلي من كل عملية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موجود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غير موجود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يدوي وخطّاء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قيد مزدوج صحيح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نعم — كامل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أنصاف حلول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نعم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نعم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يعمل بلا إنترنت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مؤسسية USALI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جيدة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ضعيفة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بجهد وخبرة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تقارير مالية موثوقة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بنيوي + كشف فوري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جيد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ضعيف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معدوم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منع تلاعب/حذف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محلي بسياقك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عن بُعد بلغتهم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متذبذب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دعم يفهم فنادقك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عادل ومتجدد القيمة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اشتراك مرتفع عملياً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رخيص وأعمى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رخيص ظاهراً مكلف خفياً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1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تكلفة ملكية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1D4E79"/>
                </a:solidFill>
                <a:latin typeface="Segoe UI"/>
                <a:cs typeface="Segoe UI"/>
              </a:rPr>
              <a:t>الخيار الأذكى ليس «أرخص برنامج» بل أقل نظام يشتري لك راحة البال المحاسبية.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دورة كاملة: من باب الفندق إلى قوائمك الختامية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Full Coverage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الغرف والحجوزات: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توفر لحظي بلا حجز مزدوج، دخول في 60 ثانية، فواتير نظامية متسلسلة.</a:t>
            </a:r>
          </a:p>
          <a:p>
            <a:pPr algn="r" rtl="1"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التدقيق الليلي: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ختم اليوم بمعالج موجه: إيراد الليالي، مطابقات، تقرير مؤرشف موقَّع.</a:t>
            </a:r>
          </a:p>
          <a:p>
            <a:pPr algn="r" rtl="1"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نقاط البيع: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مطعم/كافيه/خدمات بسرعة لمس، تحميل على الغرفة، ورديات بتقارير إقفال.</a:t>
            </a:r>
          </a:p>
          <a:p>
            <a:pPr algn="r" rtl="1"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المخزون والمشتريات: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مطابقة ثلاثية (أمر/استلام/فاتورة)، تقييم متوسط متحرك، جرد دوري وتسويات.</a:t>
            </a:r>
          </a:p>
          <a:p>
            <a:pPr algn="r" rtl="1"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الموظفون والرواتب: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حضور وإجازات وسلف ومسير باعتماد مزدوج وقسائم جاهزة.</a:t>
            </a:r>
          </a:p>
          <a:p>
            <a:pPr algn="r" rtl="1">
              <a:lnSpc>
                <a:spcPct val="118000"/>
              </a:lnSpc>
              <a:spcAft>
                <a:spcPts val="11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التقارير: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ميزان، أستاذ، قائمة دخل بأقسام الفندق، ذمم مع الأعمار، ضرائب — بتصدير رسمي.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أمان مؤسسي… بلغة بسيطة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Security Made Simple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440680" cy="14630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280160"/>
            <a:ext cx="544068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399032"/>
            <a:ext cx="52212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بياناتك ملكك وحدك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847088"/>
            <a:ext cx="5221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انتهى الاشتراك أو غيّرت رأيك؟ كل شيء يقرأ ويُصدَّر كاملاً — نحن ضيوف عند بياناتك.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80160"/>
            <a:ext cx="5440680" cy="14630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280160"/>
            <a:ext cx="544068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399032"/>
            <a:ext cx="52212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كل شيء مسجَّل ومختوم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47088"/>
            <a:ext cx="5221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من غيّر سعراً؟ من حذف مستنداً؟ (ملاحظة: أصلاً لا يمكن حذفها) — كل حركة باسم فاعلها.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71800"/>
            <a:ext cx="5440680" cy="14630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971800"/>
            <a:ext cx="5440680" cy="82296"/>
          </a:xfrm>
          <a:prstGeom prst="rect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2212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نسخ احتياطي لا ينسى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538728"/>
            <a:ext cx="5221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نسخ آلي يومي مشفر، واختبار استعادة حقيقي دوري — «عندنا نسخة» ليست أمنية عندنا.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71800"/>
            <a:ext cx="5440680" cy="14630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971800"/>
            <a:ext cx="5440680" cy="82296"/>
          </a:xfrm>
          <a:prstGeom prst="rect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090672"/>
            <a:ext cx="52212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12314E"/>
                </a:solidFill>
                <a:latin typeface="Segoe UI"/>
                <a:cs typeface="Segoe UI"/>
              </a:rPr>
              <a:t>صلاحيات على قد المسؤولية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538728"/>
            <a:ext cx="5221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  <a:cs typeface="Segoe UI"/>
              </a:rPr>
              <a:t>كل موظف يرى عمله فقط؛ الخصومات فوق الحدود تحتاج اعتماداً؛ لا حسابات مشتركة.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92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اطلب من أي منافس هذه القائمة بالحرف — ثم تعال إلينا.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الباقات — اختر طريقة عملك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Packages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097279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825"/>
                <a:gridCol w="1592825"/>
                <a:gridCol w="4247535"/>
                <a:gridCol w="3539612"/>
              </a:tblGrid>
              <a:tr h="548640"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سنوي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تأسيس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الأنسب لمن؟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الباقة</a:t>
                      </a:r>
                    </a:p>
                  </a:txBody>
                  <a:tcPr marT="27432" marB="27432">
                    <a:solidFill>
                      <a:srgbClr val="1231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280 $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700 $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فندق صغير متاح ميدانياً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أثير محلي ≤ 40 غرفة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420 $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1,100 $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الفنادق المتوسطة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أثير محلي 41–120 غرفة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420 $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300 $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لا يريد أي بنية محلية / فروع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أثير سحابي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520 $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1,300 $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يريد الاستمرارية والسحابة معاً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أثير هجين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2976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التأسيس يشمل: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الترخيص والتثبيت والتهيئة ونقل الأرصدة الافتتاحية والتدريب بالأدوار.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السنوي يشمل: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كل التحديثات + الدعم بمستوى خدمة تعاقدي + النسخ السحابي (هجين/سحابي).</a:t>
            </a:r>
          </a:p>
          <a:p>
            <a:pPr algn="r" rtl="1">
              <a:lnSpc>
                <a:spcPct val="118000"/>
              </a:lnSpc>
              <a:spcAft>
                <a:spcPts val="800"/>
              </a:spcAft>
            </a:pPr>
            <a:r>
              <a:rPr sz="14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450" b="1" i="0">
                <a:solidFill>
                  <a:srgbClr val="1D4E79"/>
                </a:solidFill>
                <a:latin typeface="Segoe UI"/>
                <a:cs typeface="Segoe UI"/>
              </a:rPr>
              <a:t>سياسة صادقة: </a:t>
            </a:r>
            <a:r>
              <a:rPr sz="1450" b="0" i="0">
                <a:solidFill>
                  <a:srgbClr val="1F2933"/>
                </a:solidFill>
                <a:latin typeface="Segoe UI"/>
                <a:cs typeface="Segoe UI"/>
              </a:rPr>
              <a:t>لا رسوم خفية على الفواتير/العمليات، ولا رفع سعر على عميل قائم بأثر رجعي.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من التوقيع إلى التشغيل في 10 أيام 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Onboarding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7" name="Chevron 6"/>
          <p:cNvSpPr/>
          <p:nvPr/>
        </p:nvSpPr>
        <p:spPr>
          <a:xfrm>
            <a:off x="9915906" y="1691640"/>
            <a:ext cx="1818589" cy="10515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تهيئة وتأمين
+ ترخيص ونسخ</a:t>
            </a:r>
          </a:p>
        </p:txBody>
      </p:sp>
      <p:sp>
        <p:nvSpPr>
          <p:cNvPr id="8" name="Chevron 7"/>
          <p:cNvSpPr/>
          <p:nvPr/>
        </p:nvSpPr>
        <p:spPr>
          <a:xfrm>
            <a:off x="8024165" y="1691640"/>
            <a:ext cx="1818589" cy="105156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بيانات أساسية
غرف/أسعار/أصناف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4" y="1691640"/>
            <a:ext cx="1818589" cy="10515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أرصدة افتتاحية
موقعة محاسبياً</a:t>
            </a:r>
          </a:p>
        </p:txBody>
      </p:sp>
      <p:sp>
        <p:nvSpPr>
          <p:cNvPr id="10" name="Chevron 9"/>
          <p:cNvSpPr/>
          <p:nvPr/>
        </p:nvSpPr>
        <p:spPr>
          <a:xfrm>
            <a:off x="4240683" y="1691640"/>
            <a:ext cx="1818589" cy="1051560"/>
          </a:xfrm>
          <a:prstGeom prst="chevron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تدريب بالأدوار
سيناريوهات يومكم</a:t>
            </a:r>
          </a:p>
        </p:txBody>
      </p:sp>
      <p:sp>
        <p:nvSpPr>
          <p:cNvPr id="11" name="Chevron 10"/>
          <p:cNvSpPr/>
          <p:nvPr/>
        </p:nvSpPr>
        <p:spPr>
          <a:xfrm>
            <a:off x="2348942" y="1691640"/>
            <a:ext cx="1818589" cy="1051560"/>
          </a:xfrm>
          <a:prstGeom prst="chevron">
            <a:avLst/>
          </a:prstGeom>
          <a:solidFill>
            <a:srgbClr val="1D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أسبوع موازٍ
مطابق يومي</a:t>
            </a:r>
          </a:p>
        </p:txBody>
      </p:sp>
      <p:sp>
        <p:nvSpPr>
          <p:cNvPr id="12" name="Pentagon 11"/>
          <p:cNvSpPr/>
          <p:nvPr/>
        </p:nvSpPr>
        <p:spPr>
          <a:xfrm>
            <a:off x="457201" y="1691640"/>
            <a:ext cx="1818589" cy="1051560"/>
          </a:xfrm>
          <a:prstGeom prst="homePlate">
            <a:avLst/>
          </a:prstGeom>
          <a:solidFill>
            <a:srgbClr val="128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050" b="1" i="0">
                <a:solidFill>
                  <a:srgbClr val="FFFFFF"/>
                </a:solidFill>
                <a:latin typeface="Segoe UI"/>
                <a:cs typeface="Segoe UI"/>
              </a:rPr>
              <a:t>قطع الطوق
وشهادة تسليم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لا نسلّم كرتوناً: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نسلّم فندقاً يعمل: شهادة تفعيل موقعة باختبار استعادة ناجح أمامكم.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فريقك يتقن لا يحضر: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التدريب ينتهي بقدرة مثبتة لكل دور، ونعيد من يتعثر بلا كلفة.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أول إغلاق شهري معكم: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ماليو فندقكم يقودونه ونحن نساندهم — ثم ينطلقون.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دعم تثق به — وضمانات مكتوبة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Support &amp; Guarantees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325880"/>
            <a:ext cx="3474720" cy="1737360"/>
          </a:xfrm>
          <a:prstGeom prst="round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49047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D4E79"/>
                </a:solidFill>
                <a:latin typeface="Segoe UI"/>
                <a:cs typeface="Segoe UI"/>
              </a:rPr>
              <a:t>٣٠ دقيقة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2194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470"/>
                </a:solidFill>
                <a:latin typeface="Segoe UI"/>
                <a:cs typeface="Segoe UI"/>
              </a:rPr>
              <a:t>استجابة أولى للحوادث الحرجة (عقدياً)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474720" cy="1737360"/>
          </a:xfrm>
          <a:prstGeom prst="round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9047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D4E79"/>
                </a:solidFill>
                <a:latin typeface="Segoe UI"/>
                <a:cs typeface="Segoe UI"/>
              </a:rPr>
              <a:t>٩٩٫٥٪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470"/>
                </a:solidFill>
                <a:latin typeface="Segoe UI"/>
                <a:cs typeface="Segoe UI"/>
              </a:rPr>
              <a:t>توافر شهري مستهدف للباقة السحابية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325880"/>
            <a:ext cx="3474720" cy="1737360"/>
          </a:xfrm>
          <a:prstGeom prst="roundRect">
            <a:avLst/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49047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D4E79"/>
                </a:solidFill>
                <a:latin typeface="Segoe UI"/>
                <a:cs typeface="Segoe UI"/>
              </a:rPr>
              <a:t>٣٠ يوم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470"/>
                </a:solidFill>
                <a:latin typeface="Segoe UI"/>
                <a:cs typeface="Segoe UI"/>
              </a:rPr>
              <a:t>مهلة سماح كاملة الخدمة قبل أي قيود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32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قنوات دعم حقيقية: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من داخل النظام (يلتقط تفاصيل العطل تلقائياً) + هاتف/واتساب + زيارات ميدانية.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ضمان استرداد التأسيس 30 يوماً: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بشرط إتمام التدريب — لأننا نثق بما نبيع.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قراءة فقط لا حبس: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انقطاع الاشتراك لا يمنع قراءة بياناتك وتصديرها أبداً.</a:t>
            </a:r>
          </a:p>
          <a:p>
            <a:pPr algn="r" rtl="1">
              <a:lnSpc>
                <a:spcPct val="118000"/>
              </a:lnSpc>
              <a:spcAft>
                <a:spcPts val="9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00" b="1" i="0">
                <a:solidFill>
                  <a:srgbClr val="1D4E79"/>
                </a:solidFill>
                <a:latin typeface="Segoe UI"/>
                <a:cs typeface="Segoe UI"/>
              </a:rPr>
              <a:t>تعويض SLA: </a:t>
            </a:r>
            <a:r>
              <a:rPr sz="1500" b="0" i="0">
                <a:solidFill>
                  <a:srgbClr val="1F2933"/>
                </a:solidFill>
                <a:latin typeface="Segoe UI"/>
                <a:cs typeface="Segoe UI"/>
              </a:rPr>
              <a:t>تجاوز أزمنة الحرجة مرتين بربع سنة = خصم تلقائي من رسوم الربع التالي.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  <a:cs typeface="Segoe UI"/>
              </a:rPr>
              <a:t>شراكة تكبر معك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BCCBDB"/>
                </a:solidFill>
                <a:latin typeface="Segoe UI"/>
                <a:cs typeface="Segoe UI"/>
              </a:rPr>
              <a:t>Roadmap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201168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2314E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قريباً (سنة أولى):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تطبيق مالك للموبايل (تقارير واعتمادات)، موازنات تقديرية، موصل مراجع خارجي.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بعدها: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حجز إلكتروني برابط فندقك، ربط وكالات الحجز الإلكترونية، بوابات دفع.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أفق أوسع: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تحليلات ذكية للإيراد والإشغال — ينصحك متى ترفع سعرك ولماذا.</a:t>
            </a:r>
          </a:p>
          <a:p>
            <a:pPr algn="r" rtl="1">
              <a:lnSpc>
                <a:spcPct val="118000"/>
              </a:lnSpc>
              <a:spcAft>
                <a:spcPts val="1000"/>
              </a:spcAft>
            </a:pPr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•  </a:t>
            </a:r>
            <a:r>
              <a:rPr sz="1550" b="1" i="0">
                <a:solidFill>
                  <a:srgbClr val="1D4E79"/>
                </a:solidFill>
                <a:latin typeface="Segoe UI"/>
                <a:cs typeface="Segoe UI"/>
              </a:rPr>
              <a:t>توسعك أنت حكايتنا: </a:t>
            </a:r>
            <a:r>
              <a:rPr sz="1550" b="0" i="0">
                <a:solidFill>
                  <a:srgbClr val="1F2933"/>
                </a:solidFill>
                <a:latin typeface="Segoe UI"/>
                <a:cs typeface="Segoe UI"/>
              </a:rPr>
              <a:t>فرع جديد؟ يُدار من نفس اللوحة بنفس الترخيص المتعدد.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09160"/>
            <a:ext cx="10911535" cy="1051560"/>
          </a:xfrm>
          <a:prstGeom prst="round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1800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  <a:cs typeface="Segoe UI"/>
              </a:rPr>
              <a:t>عميل اليوم = شريك سنوات. نموذج عملنا يقوم على تجديدك بقناعة، لا على احتجازك.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Segoe UI"/>
                <a:cs typeface="Segoe UI"/>
              </a:rPr>
              <a:t>أثير لإدارة الفنادق — وثيقة تقديمية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جاهز تبدأ؟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8000"/>
              </a:lnSpc>
              <a:spcAft>
                <a:spcPts val="12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800" b="0" i="0">
                <a:solidFill>
                  <a:srgbClr val="D5DEE8"/>
                </a:solidFill>
                <a:latin typeface="Segoe UI"/>
                <a:cs typeface="Segoe UI"/>
              </a:rPr>
              <a:t>اطلب عرضاً حياً في فندقك — بنظام تجريبي بحجوزات حقيقية تشبه يومك.</a:t>
            </a:r>
          </a:p>
          <a:p>
            <a:pPr algn="r" rtl="1">
              <a:lnSpc>
                <a:spcPct val="118000"/>
              </a:lnSpc>
              <a:spcAft>
                <a:spcPts val="12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800" b="0" i="0">
                <a:solidFill>
                  <a:srgbClr val="D5DEE8"/>
                </a:solidFill>
                <a:latin typeface="Segoe UI"/>
                <a:cs typeface="Segoe UI"/>
              </a:rPr>
              <a:t>أرِ محاسبك قيودنا وتقاريرنا قبل أي التزام — نرحب بالاختبار الأصعب.</a:t>
            </a:r>
          </a:p>
          <a:p>
            <a:pPr algn="r" rtl="1">
              <a:lnSpc>
                <a:spcPct val="118000"/>
              </a:lnSpc>
              <a:spcAft>
                <a:spcPts val="12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—  </a:t>
            </a:r>
            <a:r>
              <a:rPr sz="1800" b="0" i="0">
                <a:solidFill>
                  <a:srgbClr val="D5DEE8"/>
                </a:solidFill>
                <a:latin typeface="Segoe UI"/>
                <a:cs typeface="Segoe UI"/>
              </a:rPr>
              <a:t>خطة إطلاق أول 20 عميلاً: خصم تأسيس 20% مع أولوية التفعيل الميداني.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 i="0">
                <a:solidFill>
                  <a:srgbClr val="C9A227"/>
                </a:solidFill>
                <a:latin typeface="Segoe UI"/>
                <a:cs typeface="Segoe UI"/>
              </a:rPr>
              <a:t>أثير — أرقام تُثق، وعمل لا يتوقف.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0">
                <a:solidFill>
                  <a:srgbClr val="BCCBDB"/>
                </a:solidFill>
                <a:latin typeface="Segoe UI"/>
                <a:cs typeface="Segoe UI"/>
              </a:rPr>
              <a:t>للتواصل والعروض: [الهاتف/البريد يُدرج هنا] — الإصدار 1.0 (أغسطس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